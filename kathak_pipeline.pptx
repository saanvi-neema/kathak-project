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11C14"/>
                </a:solidFill>
              </a:rPr>
              <a:t>Kathak Analysis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1751370" cy="715019"/>
          </a:xfrm>
          <a:prstGeom prst="roundRect">
            <a:avLst>
              <a:gd name="adj" fmla="val 2500"/>
            </a:avLst>
          </a:prstGeom>
          <a:solidFill>
            <a:srgbClr val="E4EFEA"/>
          </a:solidFill>
          <a:ln w="15240">
            <a:solidFill>
              <a:srgbClr val="1B6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100"/>
              </a:spcBef>
            </a:pPr>
            <a:r>
              <a:rPr sz="1400" b="1">
                <a:solidFill>
                  <a:srgbClr val="211C14"/>
                </a:solidFill>
              </a:rPr>
              <a:t>Upload Video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5507025"/>
            <a:ext cx="1751370" cy="715019"/>
          </a:xfrm>
          <a:prstGeom prst="roundRect">
            <a:avLst>
              <a:gd name="adj" fmla="val 2500"/>
            </a:avLst>
          </a:prstGeom>
          <a:solidFill>
            <a:srgbClr val="F3E7CE"/>
          </a:solidFill>
          <a:ln w="15240">
            <a:solidFill>
              <a:srgbClr val="A87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100"/>
              </a:spcBef>
            </a:pPr>
            <a:r>
              <a:rPr sz="1400" b="1">
                <a:solidFill>
                  <a:srgbClr val="211C14"/>
                </a:solidFill>
              </a:rPr>
              <a:t>webcam chunk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15437" y="1820206"/>
            <a:ext cx="1843548" cy="580953"/>
          </a:xfrm>
          <a:prstGeom prst="roundRect">
            <a:avLst>
              <a:gd name="adj" fmla="val 2500"/>
            </a:avLst>
          </a:prstGeom>
          <a:solidFill>
            <a:srgbClr val="FBF6EA"/>
          </a:solidFill>
          <a:ln w="12700">
            <a:solidFill>
              <a:srgbClr val="DED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100"/>
              </a:spcBef>
            </a:pPr>
            <a:r>
              <a:rPr sz="1250" b="1">
                <a:solidFill>
                  <a:srgbClr val="211C14"/>
                </a:solidFill>
              </a:rPr>
              <a:t>MediaPipe Models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6E6656"/>
                </a:solidFill>
              </a:rPr>
              <a:t>pose · hand · face  .task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7292" y="1149875"/>
            <a:ext cx="2027903" cy="580953"/>
          </a:xfrm>
          <a:prstGeom prst="roundRect">
            <a:avLst>
              <a:gd name="adj" fmla="val 2500"/>
            </a:avLst>
          </a:prstGeom>
          <a:solidFill>
            <a:srgbClr val="FBF6EA"/>
          </a:solidFill>
          <a:ln w="12700">
            <a:solidFill>
              <a:srgbClr val="DED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100"/>
              </a:spcBef>
            </a:pPr>
            <a:r>
              <a:rPr sz="1250" b="1">
                <a:solidFill>
                  <a:srgbClr val="211C14"/>
                </a:solidFill>
              </a:rPr>
              <a:t>Mudra Classifier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6E6656"/>
                </a:solidFill>
              </a:rPr>
              <a:t>trained ML model  ·  ~174 MB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3260" y="3049145"/>
            <a:ext cx="2027903" cy="1005496"/>
          </a:xfrm>
          <a:prstGeom prst="roundRect">
            <a:avLst>
              <a:gd name="adj" fmla="val 2500"/>
            </a:avLst>
          </a:prstGeom>
          <a:solidFill>
            <a:srgbClr val="FBF6EA"/>
          </a:solidFill>
          <a:ln w="15240">
            <a:solidFill>
              <a:srgbClr val="DED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100"/>
              </a:spcBef>
            </a:pPr>
            <a:r>
              <a:rPr sz="1400" b="1">
                <a:solidFill>
                  <a:srgbClr val="211C14"/>
                </a:solidFill>
              </a:rPr>
              <a:t>Extract landmarks</a:t>
            </a:r>
          </a:p>
          <a:p>
            <a:pPr algn="ctr">
              <a:spcBef>
                <a:spcPts val="100"/>
              </a:spcBef>
            </a:pPr>
            <a:r>
              <a:rPr sz="1400" b="1">
                <a:solidFill>
                  <a:srgbClr val="211C14"/>
                </a:solidFill>
              </a:rPr>
              <a:t>+ audio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6E6656"/>
                </a:solidFill>
              </a:rPr>
              <a:t>MediaPipe pose/hand/face, librosa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8582" y="2043649"/>
            <a:ext cx="2857500" cy="2122714"/>
          </a:xfrm>
          <a:prstGeom prst="roundRect">
            <a:avLst>
              <a:gd name="adj" fmla="val 2500"/>
            </a:avLst>
          </a:prstGeom>
          <a:solidFill>
            <a:srgbClr val="FBF6EA"/>
          </a:solidFill>
          <a:ln w="15240">
            <a:solidFill>
              <a:srgbClr val="DED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100"/>
              </a:spcBef>
            </a:pPr>
            <a:r>
              <a:rPr sz="1500" b="1">
                <a:solidFill>
                  <a:srgbClr val="211C14"/>
                </a:solidFill>
              </a:rPr>
              <a:t>Analysis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6E6656"/>
                </a:solidFill>
              </a:rPr>
              <a:t>same code, both paths</a:t>
            </a:r>
          </a:p>
          <a:p>
            <a:pPr algn="ctr">
              <a:spcBef>
                <a:spcPts val="100"/>
              </a:spcBef>
            </a:pPr>
            <a:r>
              <a:rPr sz="1200" b="0">
                <a:solidFill>
                  <a:srgbClr val="211C14"/>
                </a:solidFill>
              </a:rPr>
              <a:t>Chakkar   Mudra   Rasa</a:t>
            </a:r>
          </a:p>
          <a:p>
            <a:pPr algn="ctr">
              <a:spcBef>
                <a:spcPts val="100"/>
              </a:spcBef>
            </a:pPr>
            <a:r>
              <a:rPr sz="1200" b="0">
                <a:solidFill>
                  <a:srgbClr val="211C14"/>
                </a:solidFill>
              </a:rPr>
              <a:t>Timing &amp; Taal   Tatkaar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6E6656"/>
                </a:solidFill>
              </a:rPr>
              <a:t>whatever data exists so far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06969" y="2378815"/>
            <a:ext cx="2304435" cy="893774"/>
          </a:xfrm>
          <a:prstGeom prst="roundRect">
            <a:avLst>
              <a:gd name="adj" fmla="val 2500"/>
            </a:avLst>
          </a:prstGeom>
          <a:solidFill>
            <a:srgbClr val="FFFDF6"/>
          </a:solidFill>
          <a:ln w="15240">
            <a:solidFill>
              <a:srgbClr val="C9B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100"/>
              </a:spcBef>
            </a:pPr>
            <a:r>
              <a:rPr sz="1500" b="1">
                <a:solidFill>
                  <a:srgbClr val="211C14"/>
                </a:solidFill>
              </a:rPr>
              <a:t>Scoring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6E6656"/>
                </a:solidFill>
              </a:rPr>
              <a:t>mudra_scoring() · chakkar · timing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6E6656"/>
                </a:solidFill>
              </a:rPr>
              <a:t>identical result, either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06969" y="3585410"/>
            <a:ext cx="2304435" cy="804396"/>
          </a:xfrm>
          <a:prstGeom prst="roundRect">
            <a:avLst>
              <a:gd name="adj" fmla="val 2500"/>
            </a:avLst>
          </a:prstGeom>
          <a:solidFill>
            <a:srgbClr val="FFFDF6"/>
          </a:solidFill>
          <a:ln w="15240">
            <a:solidFill>
              <a:srgbClr val="C9B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100"/>
              </a:spcBef>
            </a:pPr>
            <a:r>
              <a:rPr sz="1500" b="1">
                <a:solidFill>
                  <a:srgbClr val="211C14"/>
                </a:solidFill>
              </a:rPr>
              <a:t>Report</a:t>
            </a:r>
          </a:p>
          <a:p>
            <a:pPr algn="ctr">
              <a:spcBef>
                <a:spcPts val="100"/>
              </a:spcBef>
            </a:pPr>
            <a:r>
              <a:rPr sz="1500" b="1">
                <a:solidFill>
                  <a:srgbClr val="211C14"/>
                </a:solidFill>
              </a:rPr>
              <a:t>→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14792" y="4836694"/>
            <a:ext cx="2212258" cy="849085"/>
          </a:xfrm>
          <a:prstGeom prst="roundRect">
            <a:avLst>
              <a:gd name="adj" fmla="val 2500"/>
            </a:avLst>
          </a:prstGeom>
          <a:solidFill>
            <a:srgbClr val="F3E7CE"/>
          </a:solidFill>
          <a:ln w="15240">
            <a:solidFill>
              <a:srgbClr val="A87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100"/>
              </a:spcBef>
            </a:pPr>
            <a:r>
              <a:rPr sz="1400" b="1">
                <a:solidFill>
                  <a:srgbClr val="211C14"/>
                </a:solidFill>
              </a:rPr>
              <a:t>Finalize-margin gate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6E6656"/>
                </a:solidFill>
              </a:rPr>
              <a:t>only emit safely-finished events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A8752B"/>
                </a:solidFill>
              </a:rPr>
              <a:t>confirmed past · not ongoing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4227" y="4523873"/>
            <a:ext cx="3226209" cy="670330"/>
          </a:xfrm>
          <a:prstGeom prst="roundRect">
            <a:avLst>
              <a:gd name="adj" fmla="val 2500"/>
            </a:avLst>
          </a:prstGeom>
          <a:solidFill>
            <a:srgbClr val="FDEAEA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100"/>
              </a:spcBef>
            </a:pPr>
            <a:r>
              <a:rPr sz="1350" b="1">
                <a:solidFill>
                  <a:srgbClr val="211C14"/>
                </a:solidFill>
              </a:rPr>
              <a:t>Threshold gate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6E6656"/>
                </a:solidFill>
              </a:rPr>
              <a:t>buzz only if score &lt; threshold (e.g. 20%)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C0392B"/>
                </a:solidFill>
              </a:rPr>
              <a:t>fires during hold · not after it 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6405" y="5395303"/>
            <a:ext cx="3041854" cy="759708"/>
          </a:xfrm>
          <a:prstGeom prst="roundRect">
            <a:avLst>
              <a:gd name="adj" fmla="val 2500"/>
            </a:avLst>
          </a:prstGeom>
          <a:solidFill>
            <a:srgbClr val="FDEAEA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100"/>
              </a:spcBef>
            </a:pPr>
            <a:r>
              <a:rPr sz="1400" b="1">
                <a:solidFill>
                  <a:srgbClr val="211C14"/>
                </a:solidFill>
              </a:rPr>
              <a:t>Haptic Glove</a:t>
            </a:r>
          </a:p>
          <a:p>
            <a:pPr algn="ctr">
              <a:spcBef>
                <a:spcPts val="100"/>
              </a:spcBef>
            </a:pPr>
            <a:r>
              <a:rPr sz="1200" b="0">
                <a:solidFill>
                  <a:srgbClr val="6E6656"/>
                </a:solidFill>
              </a:rPr>
              <a:t>Arduino · vibration motor per finger</a:t>
            </a:r>
          </a:p>
          <a:p>
            <a:pPr algn="ctr">
              <a:spcBef>
                <a:spcPts val="100"/>
              </a:spcBef>
            </a:pPr>
            <a:r>
              <a:rPr sz="1100" b="0">
                <a:solidFill>
                  <a:srgbClr val="C0392B"/>
                </a:solidFill>
              </a:rPr>
              <a:t>buzz finger with low mudra score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41445" y="1172219"/>
            <a:ext cx="2995766" cy="1876926"/>
          </a:xfrm>
          <a:prstGeom prst="bentConnector3">
            <a:avLst/>
          </a:prstGeom>
          <a:ln w="25400">
            <a:solidFill>
              <a:srgbClr val="1B6E67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7125" y="2043649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1B6E67"/>
                </a:solidFill>
              </a:rPr>
              <a:t>upload path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117130" y="4054642"/>
            <a:ext cx="2120081" cy="1809893"/>
          </a:xfrm>
          <a:prstGeom prst="bentConnector3">
            <a:avLst/>
          </a:prstGeom>
          <a:ln w="25400">
            <a:solidFill>
              <a:srgbClr val="A8752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85840" y="4724972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A8752B"/>
                </a:solidFill>
              </a:rPr>
              <a:t>live path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37211" y="2401159"/>
            <a:ext cx="0" cy="647986"/>
          </a:xfrm>
          <a:prstGeom prst="line">
            <a:avLst/>
          </a:prstGeom>
          <a:ln w="17780">
            <a:solidFill>
              <a:srgbClr val="DED0AF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71243" y="1730828"/>
            <a:ext cx="0" cy="312821"/>
          </a:xfrm>
          <a:prstGeom prst="line">
            <a:avLst/>
          </a:prstGeom>
          <a:ln w="17780">
            <a:solidFill>
              <a:srgbClr val="DED0AF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251163" y="3105006"/>
            <a:ext cx="737419" cy="446887"/>
          </a:xfrm>
          <a:prstGeom prst="bentConnector3">
            <a:avLst/>
          </a:prstGeom>
          <a:ln w="22860">
            <a:solidFill>
              <a:srgbClr val="6E665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846082" y="2602258"/>
            <a:ext cx="460887" cy="223444"/>
          </a:xfrm>
          <a:prstGeom prst="line">
            <a:avLst/>
          </a:prstGeom>
          <a:ln w="25400">
            <a:solidFill>
              <a:srgbClr val="1B6E67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891802" y="2468192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1B6E67"/>
                </a:solidFill>
              </a:rPr>
              <a:t>upload path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46082" y="3831198"/>
            <a:ext cx="368710" cy="1430039"/>
          </a:xfrm>
          <a:prstGeom prst="bentConnector3">
            <a:avLst/>
          </a:prstGeom>
          <a:ln w="25400">
            <a:solidFill>
              <a:srgbClr val="A8752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891802" y="4166363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A8752B"/>
                </a:solidFill>
              </a:rPr>
              <a:t>live path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0459187" y="3272589"/>
            <a:ext cx="967863" cy="1988648"/>
          </a:xfrm>
          <a:prstGeom prst="bentConnector3">
            <a:avLst/>
          </a:prstGeom>
          <a:ln w="25400">
            <a:solidFill>
              <a:srgbClr val="A8752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459187" y="3272589"/>
            <a:ext cx="0" cy="312821"/>
          </a:xfrm>
          <a:prstGeom prst="line">
            <a:avLst/>
          </a:prstGeom>
          <a:ln w="22860">
            <a:solidFill>
              <a:srgbClr val="6E665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030437" y="3272589"/>
            <a:ext cx="276532" cy="1251284"/>
          </a:xfrm>
          <a:prstGeom prst="bentConnector3">
            <a:avLst/>
          </a:prstGeom>
          <a:ln w="22860">
            <a:solidFill>
              <a:srgbClr val="C0392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27886" y="3831198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C0392B"/>
                </a:solidFill>
              </a:rPr>
              <a:t>score (live only)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17332" y="4188708"/>
            <a:ext cx="0" cy="335165"/>
          </a:xfrm>
          <a:prstGeom prst="line">
            <a:avLst/>
          </a:prstGeom>
          <a:ln w="22860">
            <a:solidFill>
              <a:srgbClr val="C0392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33824" y="4233396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C0392B"/>
                </a:solidFill>
              </a:rPr>
              <a:t>current finger state · ongoing holds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17332" y="5194204"/>
            <a:ext cx="0" cy="201099"/>
          </a:xfrm>
          <a:prstGeom prst="line">
            <a:avLst/>
          </a:prstGeom>
          <a:ln w="22860">
            <a:solidFill>
              <a:srgbClr val="C0392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748421" y="6155012"/>
            <a:ext cx="4147984" cy="0"/>
          </a:xfrm>
          <a:prstGeom prst="bentConnector3">
            <a:avLst/>
          </a:prstGeom>
          <a:ln w="22860">
            <a:solidFill>
              <a:srgbClr val="C0392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499792" y="6177356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C0392B"/>
                </a:solidFill>
              </a:rPr>
              <a:t>corrected posture → retry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748421" y="5864535"/>
            <a:ext cx="368709" cy="290477"/>
          </a:xfrm>
          <a:prstGeom prst="bentConnector3">
            <a:avLst/>
          </a:prstGeom>
          <a:ln w="22860">
            <a:solidFill>
              <a:srgbClr val="C0392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47472" y="6473952"/>
            <a:ext cx="164592" cy="164592"/>
          </a:xfrm>
          <a:prstGeom prst="rect">
            <a:avLst/>
          </a:prstGeom>
          <a:solidFill>
            <a:srgbClr val="1B6E67"/>
          </a:solidFill>
          <a:ln>
            <a:solidFill>
              <a:srgbClr val="1B6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6480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B6E67"/>
                </a:solidFill>
              </a:rPr>
              <a:t>Upload path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76272" y="6473952"/>
            <a:ext cx="164592" cy="164592"/>
          </a:xfrm>
          <a:prstGeom prst="rect">
            <a:avLst/>
          </a:prstGeom>
          <a:solidFill>
            <a:srgbClr val="A8752B"/>
          </a:solidFill>
          <a:ln>
            <a:solidFill>
              <a:srgbClr val="A87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0" y="646480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8752B"/>
                </a:solidFill>
              </a:rPr>
              <a:t>Live (camera) path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05072" y="6473952"/>
            <a:ext cx="164592" cy="164592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646480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0392B"/>
                </a:solidFill>
              </a:rPr>
              <a:t>Hardware (haptic) path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33872" y="6537960"/>
            <a:ext cx="164592" cy="36576"/>
          </a:xfrm>
          <a:prstGeom prst="rect">
            <a:avLst/>
          </a:prstGeom>
          <a:solidFill>
            <a:srgbClr val="DED0AF"/>
          </a:solidFill>
          <a:ln>
            <a:solidFill>
              <a:srgbClr val="DED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646480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656"/>
                </a:solidFill>
              </a:rPr>
              <a:t>Model dependency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